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1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0B3B4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657600" cy="3657600"/>
          </a:xfrm>
          <a:prstGeom prst="ellipse">
            <a:avLst/>
          </a:prstGeom>
          <a:solidFill>
            <a:srgbClr val="0B3B40"/>
          </a:solidFill>
          <a:ln/>
        </p:spPr>
      </p:sp>
      <p:pic>
        <p:nvPicPr>
          <p:cNvPr id="4" name="Image 0" descr="/home/claude/ppt/icons/heartbe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APPLICATIONS PROJECT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196596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Clinical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Support System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Retrieval-Augmented Generation architecture that recommends medicines from a verified knowledge base — and clearly labels the answer whenever Llama 3.2 has to fill a gap.</a:t>
            </a:r>
            <a:endParaRPr lang="en-US" sz="1500" dirty="0"/>
          </a:p>
        </p:txBody>
      </p:sp>
      <p:pic>
        <p:nvPicPr>
          <p:cNvPr id="8" name="Image 1" descr="/home/claude/ppt/icons/file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80644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57515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PDF ingestion</a:t>
            </a:r>
            <a:endParaRPr lang="en-US" sz="1150" dirty="0"/>
          </a:p>
        </p:txBody>
      </p:sp>
      <p:pic>
        <p:nvPicPr>
          <p:cNvPr id="10" name="Image 2" descr="/home/claude/ppt/icons/netwo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580644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59352" y="57515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retrieval</a:t>
            </a:r>
            <a:endParaRPr lang="en-US" sz="1150" dirty="0"/>
          </a:p>
        </p:txBody>
      </p:sp>
      <p:pic>
        <p:nvPicPr>
          <p:cNvPr id="12" name="Image 3" descr="/home/claude/ppt/icons/robo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580644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8272" y="57515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via Ollama</a:t>
            </a:r>
            <a:endParaRPr lang="en-US" sz="1150" dirty="0"/>
          </a:p>
        </p:txBody>
      </p:sp>
      <p:pic>
        <p:nvPicPr>
          <p:cNvPr id="14" name="Image 4" descr="/home/claude/ppt/icons/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5806440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537192" y="57515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Safety-gated output</a:t>
            </a:r>
            <a:endParaRPr lang="en-US" sz="1150" dirty="0"/>
          </a:p>
        </p:txBody>
      </p:sp>
      <p:sp>
        <p:nvSpPr>
          <p:cNvPr id="16" name="Text 9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clinicians need decision support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FAF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566928" cy="566928"/>
          </a:xfrm>
          <a:prstGeom prst="ellipse">
            <a:avLst/>
          </a:prstGeom>
          <a:solidFill>
            <a:srgbClr val="E4F3F1"/>
          </a:solidFill>
          <a:ln/>
        </p:spPr>
      </p:sp>
      <p:pic>
        <p:nvPicPr>
          <p:cNvPr id="6" name="Image 0" descr="/home/claude/ppt/icons/flas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23113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78892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data overload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3273552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parameters per report make it easy to miss a clinically significant abnormal value.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38144" y="182880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FAF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94176" y="2084832"/>
            <a:ext cx="566928" cy="566928"/>
          </a:xfrm>
          <a:prstGeom prst="ellipse">
            <a:avLst/>
          </a:prstGeom>
          <a:solidFill>
            <a:srgbClr val="E4F3F1"/>
          </a:solidFill>
          <a:ln/>
        </p:spPr>
      </p:sp>
      <p:pic>
        <p:nvPicPr>
          <p:cNvPr id="11" name="Image 1" descr="/home/claude/ppt/icons/pill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23113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94176" y="278892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Overlapping indications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94176" y="3273552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medicines treat similar symptoms — matching the right one to the right case takes time.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36208" y="182880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FAF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2084832"/>
            <a:ext cx="566928" cy="566928"/>
          </a:xfrm>
          <a:prstGeom prst="ellipse">
            <a:avLst/>
          </a:prstGeom>
          <a:solidFill>
            <a:srgbClr val="E4F3F1"/>
          </a:solidFill>
          <a:ln/>
        </p:spPr>
      </p:sp>
      <p:pic>
        <p:nvPicPr>
          <p:cNvPr id="16" name="Image 2" descr="/home/claude/ppt/icons/sync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223113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278892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Guidelines keep evolving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92240" y="3273552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references go stale; no single person can track every update across specialties.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34272" y="182880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FAF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90304" y="2084832"/>
            <a:ext cx="566928" cy="566928"/>
          </a:xfrm>
          <a:prstGeom prst="ellipse">
            <a:avLst/>
          </a:prstGeom>
          <a:solidFill>
            <a:srgbClr val="E4F3F1"/>
          </a:solidFill>
          <a:ln/>
        </p:spPr>
      </p:sp>
      <p:pic>
        <p:nvPicPr>
          <p:cNvPr id="21" name="Image 3" descr="/home/claude/ppt/icons/warning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223113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90304" y="278892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 &amp; allergy risk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290304" y="3273552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Contraindications and drug interactions are easy to overlook under time pressure.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4434840"/>
            <a:ext cx="10936224" cy="1508760"/>
          </a:xfrm>
          <a:prstGeom prst="roundRect">
            <a:avLst>
              <a:gd name="adj" fmla="val 4848"/>
            </a:avLst>
          </a:prstGeom>
          <a:solidFill>
            <a:srgbClr val="028090"/>
          </a:solidFill>
          <a:ln/>
        </p:spPr>
      </p:sp>
      <p:sp>
        <p:nvSpPr>
          <p:cNvPr id="25" name="Text 19"/>
          <p:cNvSpPr/>
          <p:nvPr/>
        </p:nvSpPr>
        <p:spPr>
          <a:xfrm>
            <a:off x="960120" y="4645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60120" y="4956048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appropriate medicines from a curated, evidence-based knowledge base — using symptoms, medical history, lab reports, and diagnosed disease — and fall back to an open LLM (Llama 3.2) only when the database has no match, always disclosing which source produced the answer.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first. Generate only when needed. Always disclose.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/>
        </p:spPr>
      </p:sp>
      <p:pic>
        <p:nvPicPr>
          <p:cNvPr id="5" name="Image 0" descr="/home/claude/ppt/icons/file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884" y="210312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5420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1520" y="28346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PDF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423160" y="2304288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679192" y="192024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/>
        </p:spPr>
      </p:sp>
      <p:pic>
        <p:nvPicPr>
          <p:cNvPr id="10" name="Image 1" descr="/home/claude/ppt/icons/netwo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996" y="210312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70632" y="25420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 &amp; Index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2770632" y="28346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embeddings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FAISS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462272" y="2304288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4718304" y="192024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/>
        </p:spPr>
      </p:sp>
      <p:pic>
        <p:nvPicPr>
          <p:cNvPr id="15" name="Image 2" descr="/home/claude/ppt/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108" y="210312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09744" y="25420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809744" y="28346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similarity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6501384" y="2304288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6757416" y="192024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00A896"/>
          </a:solidFill>
          <a:ln/>
        </p:spPr>
      </p:sp>
      <p:pic>
        <p:nvPicPr>
          <p:cNvPr id="20" name="Image 3" descr="/home/claude/ppt/icons/robo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220" y="210312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48856" y="25420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Gate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848856" y="28346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token +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threshold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540496" y="2304288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8796528" y="192024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02C39A"/>
          </a:solidFill>
          <a:ln/>
        </p:spPr>
      </p:sp>
      <p:pic>
        <p:nvPicPr>
          <p:cNvPr id="25" name="Image 4" descr="/home/claude/ppt/icons/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4332" y="2103120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887968" y="25420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Layer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8887968" y="28346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Red-flags +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contraindications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640080" y="3794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confidence gate decides which path the answer takes: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40080" y="420624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pic>
        <p:nvPicPr>
          <p:cNvPr id="30" name="Image 5" descr="/home/claude/ppt/icons/check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4425696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371600" y="44074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RETRIEVED_FROM_DATABASE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896112" y="4828032"/>
            <a:ext cx="4562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context match found — answer built only from the curated knowledge base, with matched medicine names surfaced.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6035040" y="420624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9A23B"/>
            </a:solidFill>
            <a:prstDash val="solid"/>
          </a:ln>
        </p:spPr>
      </p:sp>
      <p:pic>
        <p:nvPicPr>
          <p:cNvPr id="34" name="Image 6" descr="/home/claude/ppt/icons/warning_amb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072" y="4425696"/>
            <a:ext cx="329184" cy="32918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766560" y="44074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6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LLM_GENERATED_NOT_VERIFIED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6291072" y="4828032"/>
            <a:ext cx="4562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adequate match — Llama 3.2 answers from general knowledge; UI labels it and flags it for clinician review.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components, one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226564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/icons/file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3545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947672"/>
            <a:ext cx="4251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ingestion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36192" y="228600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load_medicine_json() and pdf_to_documents() replace hardcoded data with JSON records and chunked PDF text.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64808" y="2226564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ppt/icons/netwo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3545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9752" y="1947672"/>
            <a:ext cx="4251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embeddings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159752" y="228600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OllamaEmbeddings wraps Llama 3.2's /api/embeddings; records are rendered as prose before embedding.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3401568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" y="3845052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ppt/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97306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6192" y="3566160"/>
            <a:ext cx="4251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FAISS vector store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536192" y="3904488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build_knowledge_base() indexes JSON + PDF documents together; save_local()/load_local() persist it.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63640" y="3401568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64808" y="3845052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ppt/icons/robo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397306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59752" y="3566160"/>
            <a:ext cx="4251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Constrained RAG prompt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159752" y="3904488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CLINICAL_PROMPT forces answers from retrieved context only, or a literal NOT_FOUND_IN_DATABASE token.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" y="5020056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41248" y="546354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/home/claude/ppt/icons/flas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59155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36192" y="5184648"/>
            <a:ext cx="4251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interpretation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536192" y="5522976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interpret_lab_report() flags HIGH/LOW values against reference ranges; extract_lab_values_from_text() reads PDFs.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63640" y="5020056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64808" y="546354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/home/claude/ppt/icons/shiel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5591556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59752" y="5184648"/>
            <a:ext cx="4251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layer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159752" y="5522976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check_red_flags() screens for emergencies first; check_contraindications() cross-checks patient history.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Streamlit front end, end to 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160520" cy="4434840"/>
          </a:xfrm>
          <a:prstGeom prst="roundRect">
            <a:avLst>
              <a:gd name="adj" fmla="val 1758"/>
            </a:avLst>
          </a:prstGeom>
          <a:solidFill>
            <a:srgbClr val="05262B"/>
          </a:solidFill>
          <a:ln/>
        </p:spPr>
      </p:sp>
      <p:pic>
        <p:nvPicPr>
          <p:cNvPr id="5" name="Image 0" descr="/home/claude/ppt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0756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 — Knowledge Base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14400" y="270662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1115568" y="256946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sample dataset (18 medicines) — one click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14400" y="327355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1115568" y="313639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additional medicine JSON files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14400" y="384048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1115568" y="3703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drug leaflets / guidelines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14400" y="4407408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1115568" y="427024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/ rebuild the FAISS index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14400" y="497433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1115568" y="483717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disk or reload a saved index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120640" y="1783080"/>
            <a:ext cx="64282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</p:sp>
      <p:pic>
        <p:nvPicPr>
          <p:cNvPr id="18" name="Image 1" descr="/home/claude/ppt/icons/userMd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039112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85216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Panel — Patient Case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394960" y="2660904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7"/>
          <p:cNvSpPr/>
          <p:nvPr/>
        </p:nvSpPr>
        <p:spPr>
          <a:xfrm>
            <a:off x="5596128" y="2532888"/>
            <a:ext cx="5605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form: symptoms, history, diagnosed disease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394960" y="3044952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19"/>
          <p:cNvSpPr/>
          <p:nvPr/>
        </p:nvSpPr>
        <p:spPr>
          <a:xfrm>
            <a:off x="5596128" y="2916936"/>
            <a:ext cx="5605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upload a patient-case JSON directly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394960" y="3429000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1"/>
          <p:cNvSpPr/>
          <p:nvPr/>
        </p:nvSpPr>
        <p:spPr>
          <a:xfrm>
            <a:off x="5596128" y="3300984"/>
            <a:ext cx="5605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values: upload a PDF (auto-extracted + editable) or enter manually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5120640" y="4023360"/>
            <a:ext cx="6428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is labeled by source: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5120640" y="4407408"/>
            <a:ext cx="6428232" cy="566928"/>
          </a:xfrm>
          <a:prstGeom prst="roundRect">
            <a:avLst>
              <a:gd name="adj" fmla="val 9677"/>
            </a:avLst>
          </a:prstGeom>
          <a:solidFill>
            <a:srgbClr val="E4F7EF"/>
          </a:solidFill>
          <a:ln/>
        </p:spPr>
      </p:sp>
      <p:pic>
        <p:nvPicPr>
          <p:cNvPr id="28" name="Image 2" descr="/home/claude/ppt/icons/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4535424"/>
            <a:ext cx="310896" cy="31089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742432" y="4407408"/>
            <a:ext cx="5605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RETRIEVED_FROM_DATABASE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5120640" y="5102352"/>
            <a:ext cx="6428232" cy="566928"/>
          </a:xfrm>
          <a:prstGeom prst="roundRect">
            <a:avLst>
              <a:gd name="adj" fmla="val 9677"/>
            </a:avLst>
          </a:prstGeom>
          <a:solidFill>
            <a:srgbClr val="FCF1DD"/>
          </a:solidFill>
          <a:ln/>
        </p:spPr>
      </p:sp>
      <p:pic>
        <p:nvPicPr>
          <p:cNvPr id="31" name="Image 3" descr="/home/claude/ppt/icons/warning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5230368"/>
            <a:ext cx="310896" cy="31089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742432" y="5102352"/>
            <a:ext cx="5605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6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LLM_GENERATED_NOT_VERIFIED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5120640" y="5797296"/>
            <a:ext cx="6428232" cy="566928"/>
          </a:xfrm>
          <a:prstGeom prst="roundRect">
            <a:avLst>
              <a:gd name="adj" fmla="val 9677"/>
            </a:avLst>
          </a:prstGeom>
          <a:solidFill>
            <a:srgbClr val="FBE4E6"/>
          </a:solidFill>
          <a:ln/>
        </p:spPr>
      </p:sp>
      <p:pic>
        <p:nvPicPr>
          <p:cNvPr id="34" name="Image 4" descr="/home/claude/ppt/icons/emergency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5925312"/>
            <a:ext cx="310896" cy="31089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742432" y="5797296"/>
            <a:ext cx="5605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— stop &amp; escalate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0B3B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results &amp; what's next</a:t>
            </a:r>
            <a:endParaRPr lang="en-US" sz="2800" dirty="0"/>
          </a:p>
        </p:txBody>
      </p:sp>
      <p:pic>
        <p:nvPicPr>
          <p:cNvPr id="5" name="Image 0" descr="/home/claude/ppt/icons/check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9384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85623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 case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216712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9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Metformin retrieved &amp; dosed</a:t>
            </a:r>
            <a:endParaRPr lang="en-US" sz="1100" dirty="0"/>
          </a:p>
        </p:txBody>
      </p:sp>
      <p:pic>
        <p:nvPicPr>
          <p:cNvPr id="8" name="Image 1" descr="/home/claude/ppt/icons/warning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98064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72491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Gout case (before PDF)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97280" y="303580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9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labeled LLM answer</a:t>
            </a:r>
            <a:endParaRPr lang="en-US" sz="1100" dirty="0"/>
          </a:p>
        </p:txBody>
      </p:sp>
      <p:pic>
        <p:nvPicPr>
          <p:cNvPr id="11" name="Image 2" descr="/home/claude/ppt/icons/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66744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59359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Gout case (after PDF)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097280" y="390448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9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Allopurinol leaflet ingested → now retrieved</a:t>
            </a:r>
            <a:endParaRPr lang="en-US" sz="1100" dirty="0"/>
          </a:p>
        </p:txBody>
      </p:sp>
      <p:pic>
        <p:nvPicPr>
          <p:cNvPr id="14" name="Image 3" descr="/home/claude/ppt/icons/emergency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35424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446227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Chest pain case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097280" y="477316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9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Red-flag screen stops before any suggestion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7040880" y="1737360"/>
            <a:ext cx="4507992" cy="1874520"/>
          </a:xfrm>
          <a:prstGeom prst="roundRect">
            <a:avLst>
              <a:gd name="adj" fmla="val 3902"/>
            </a:avLst>
          </a:prstGeom>
          <a:solidFill>
            <a:srgbClr val="0B3B40"/>
          </a:solidFill>
          <a:ln/>
        </p:spPr>
      </p:sp>
      <p:sp>
        <p:nvSpPr>
          <p:cNvPr id="18" name="Text 12"/>
          <p:cNvSpPr/>
          <p:nvPr/>
        </p:nvSpPr>
        <p:spPr>
          <a:xfrm>
            <a:off x="7315200" y="187452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7315200" y="2194560"/>
            <a:ext cx="39593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prototype, not a certified medical device. Contraindication checks are keyword-based; PDF lab extraction is regex-based and always shown for human review before use.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040880" y="3840480"/>
            <a:ext cx="4507992" cy="1874520"/>
          </a:xfrm>
          <a:prstGeom prst="roundRect">
            <a:avLst>
              <a:gd name="adj" fmla="val 3902"/>
            </a:avLst>
          </a:prstGeom>
          <a:solidFill>
            <a:srgbClr val="0B3B40"/>
          </a:solidFill>
          <a:ln/>
        </p:spPr>
      </p:sp>
      <p:sp>
        <p:nvSpPr>
          <p:cNvPr id="21" name="Text 15"/>
          <p:cNvSpPr/>
          <p:nvPr/>
        </p:nvSpPr>
        <p:spPr>
          <a:xfrm>
            <a:off x="7315200" y="397764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7315200" y="4160520"/>
            <a:ext cx="39593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a real formulary dataset, add a structured drug-interaction engine, log LLM-generated cases for clinician review and promotion into the verified knowledge base, and add authentication before any real deployment.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 must be reviewed by a licensed clinician before any real-world use.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2026-07-17T06:38:04Z</dcterms:created>
  <dcterms:modified xsi:type="dcterms:W3CDTF">2026-07-17T06:38:04Z</dcterms:modified>
</cp:coreProperties>
</file>