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3474720"/>
            <a:ext cx="10058400" cy="10058400"/>
          </a:xfrm>
          <a:prstGeom prst="ellipse">
            <a:avLst/>
          </a:prstGeom>
          <a:solidFill>
            <a:srgbClr val="146C4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2194560"/>
            <a:ext cx="7315200" cy="7315200"/>
          </a:xfrm>
          <a:prstGeom prst="ellipse">
            <a:avLst/>
          </a:prstGeom>
          <a:solidFill>
            <a:srgbClr val="146C4F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500000">
            <a:off x="10058400" y="9144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B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GPU HACKATHON  ·  AMD MI300X TRACK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13258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FlashBoundary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40080" y="2606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Cricket Highlight Generator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33375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multi-modal AI pipeline that watches video frames, listens to commentary, reads the scoreboard, and senses crowd energy — to automatically cut highlight reels with captions and thumbnails.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80644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146C4F">
              <a:alpha val="70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594360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58064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2633472" y="580644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146C4F">
              <a:alpha val="70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8" y="594360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136392" y="58064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626864" y="580644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146C4F">
              <a:alpha val="7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594360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29784" y="58064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Energy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620256" y="580644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146C4F">
              <a:alpha val="70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5943600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23176" y="58064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 OCR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8613648" y="580644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146C4F">
              <a:alpha val="70000"/>
            </a:srgbClr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4" y="5943600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116568" y="58064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Fusion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highlight editing doesn't scale with the pace of modern cricket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4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822960" cy="82296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24085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004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slow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70332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Editors manually scrub hours of footage to find sixes, fours and wickets — highlights often go out long after the moment matters.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34840" y="187452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42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194560"/>
            <a:ext cx="822960" cy="82296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850" y="240853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2004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Single-signal tools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754880" y="370332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automated tools rely on video only, missing context that commentary, crowd reaction, and the scoreboard provide.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0" y="187452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42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194560"/>
            <a:ext cx="822960" cy="82296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610" y="240853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2004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captions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549640" y="370332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clips rarely know which player is involved, so captions stay generic instead of being personalised and shareable.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6400800"/>
            <a:ext cx="10908792" cy="0"/>
          </a:xfrm>
          <a:prstGeom prst="roundRect">
            <a:avLst/>
          </a:prstGeom>
          <a:noFill/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FlashBoundary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application that fuses four independent signal streams through an LLM running on AMD MI300X GPUs to detect cricket events and assemble a captioned highlight reel — with zero hardcoded player names.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4F1E8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94560"/>
            <a:ext cx="685800" cy="6858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3728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0175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Frames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345643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samples frames @1fps; key frames are analysed by a vision-capable LLM for event context.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02152" y="19659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4F1E8"/>
          </a:solidFill>
          <a:ln/>
        </p:spPr>
      </p:sp>
      <p:sp>
        <p:nvSpPr>
          <p:cNvPr id="10" name="Shape 7"/>
          <p:cNvSpPr/>
          <p:nvPr/>
        </p:nvSpPr>
        <p:spPr>
          <a:xfrm>
            <a:off x="3758184" y="2194560"/>
            <a:ext cx="685800" cy="6858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492" y="23728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58184" y="30175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Commentary Audio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758184" y="345643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(GPU) transcribes live commentary into timestamped text segments.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4224" y="19659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4F1E8"/>
          </a:solidFill>
          <a:ln/>
        </p:spPr>
      </p:sp>
      <p:sp>
        <p:nvSpPr>
          <p:cNvPr id="15" name="Shape 11"/>
          <p:cNvSpPr/>
          <p:nvPr/>
        </p:nvSpPr>
        <p:spPr>
          <a:xfrm>
            <a:off x="6620256" y="2194560"/>
            <a:ext cx="685800" cy="6858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564" y="23728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0256" y="30175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 Energy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620256" y="345643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RMS analysis finds crowd-roar peaks — strong secondary signal for boundaries &amp; wickets.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26296" y="196596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4F1E8"/>
          </a:solidFill>
          <a:ln/>
        </p:spPr>
      </p:sp>
      <p:sp>
        <p:nvSpPr>
          <p:cNvPr id="20" name="Shape 15"/>
          <p:cNvSpPr/>
          <p:nvPr/>
        </p:nvSpPr>
        <p:spPr>
          <a:xfrm>
            <a:off x="9482328" y="2194560"/>
            <a:ext cx="685800" cy="6858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636" y="23728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82328" y="30175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Scoreboard OCR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482328" y="345643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reads the on-screen scorecard every ~5s to track score, wickets, and batter names.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733288" y="4370832"/>
            <a:ext cx="329184" cy="384048"/>
          </a:xfrm>
          <a:prstGeom prst="downArrow">
            <a:avLst/>
          </a:prstGeom>
          <a:solidFill>
            <a:srgbClr val="C0392B"/>
          </a:solidFill>
          <a:ln/>
        </p:spPr>
      </p:sp>
      <p:sp>
        <p:nvSpPr>
          <p:cNvPr id="25" name="Shape 19"/>
          <p:cNvSpPr/>
          <p:nvPr/>
        </p:nvSpPr>
        <p:spPr>
          <a:xfrm>
            <a:off x="640080" y="484632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0B3D2E"/>
          </a:solidFill>
          <a:ln/>
        </p:spPr>
      </p:sp>
      <p:sp>
        <p:nvSpPr>
          <p:cNvPr id="26" name="Shape 20"/>
          <p:cNvSpPr/>
          <p:nvPr/>
        </p:nvSpPr>
        <p:spPr>
          <a:xfrm>
            <a:off x="960120" y="5166360"/>
            <a:ext cx="777240" cy="777240"/>
          </a:xfrm>
          <a:prstGeom prst="ellipse">
            <a:avLst/>
          </a:prstGeom>
          <a:solidFill>
            <a:srgbClr val="E0B35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202" y="5368442"/>
            <a:ext cx="373075" cy="3730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011680" y="4983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Multi-modal LLM Fusion on AMD MI300X (vLLM)</a:t>
            </a:r>
            <a:endParaRPr lang="en-US" sz="1900" dirty="0"/>
          </a:p>
        </p:txBody>
      </p:sp>
      <p:sp>
        <p:nvSpPr>
          <p:cNvPr id="29" name="Text 22"/>
          <p:cNvSpPr/>
          <p:nvPr/>
        </p:nvSpPr>
        <p:spPr>
          <a:xfrm>
            <a:off x="2011680" y="544068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signal streams + a cross-referenced player roster are sent to a vLLM-served LLM, which returns structured events (type, timestamp, player, confidence, caption) — no synthetic fallback data, ever.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match video to a captioned highlight reel — fully automated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4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5336" y="1920240"/>
            <a:ext cx="731520" cy="7315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5531" y="21104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Frame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47472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@1fps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86684" y="2775204"/>
            <a:ext cx="137160" cy="164592"/>
          </a:xfrm>
          <a:prstGeom prst="rightArrow">
            <a:avLst/>
          </a:prstGeom>
          <a:solidFill>
            <a:srgbClr val="C0392B"/>
          </a:solidFill>
          <a:ln/>
        </p:spPr>
      </p:sp>
      <p:sp>
        <p:nvSpPr>
          <p:cNvPr id="10" name="Shape 7"/>
          <p:cNvSpPr/>
          <p:nvPr/>
        </p:nvSpPr>
        <p:spPr>
          <a:xfrm>
            <a:off x="3328416" y="16916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42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33672" y="1920240"/>
            <a:ext cx="731520" cy="7315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867" y="21104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9856" y="274320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Whisper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19856" y="347472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GPU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875020" y="2775204"/>
            <a:ext cx="137160" cy="164592"/>
          </a:xfrm>
          <a:prstGeom prst="rightArrow">
            <a:avLst/>
          </a:prstGeom>
          <a:solidFill>
            <a:srgbClr val="C0392B"/>
          </a:solidFill>
          <a:ln/>
        </p:spPr>
      </p:sp>
      <p:sp>
        <p:nvSpPr>
          <p:cNvPr id="16" name="Shape 12"/>
          <p:cNvSpPr/>
          <p:nvPr/>
        </p:nvSpPr>
        <p:spPr>
          <a:xfrm>
            <a:off x="6016752" y="16916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42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22008" y="1920240"/>
            <a:ext cx="731520" cy="7315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203" y="211043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08192" y="274320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Crowd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08192" y="347472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RMS peaks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563356" y="2775204"/>
            <a:ext cx="137160" cy="164592"/>
          </a:xfrm>
          <a:prstGeom prst="rightArrow">
            <a:avLst/>
          </a:prstGeom>
          <a:solidFill>
            <a:srgbClr val="C0392B"/>
          </a:solidFill>
          <a:ln/>
        </p:spPr>
      </p:sp>
      <p:sp>
        <p:nvSpPr>
          <p:cNvPr id="22" name="Shape 17"/>
          <p:cNvSpPr/>
          <p:nvPr/>
        </p:nvSpPr>
        <p:spPr>
          <a:xfrm>
            <a:off x="8705088" y="169164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42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610344" y="1920240"/>
            <a:ext cx="731520" cy="7315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539" y="2110435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796528" y="274320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Scoreboard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796528" y="347472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timeline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4224528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42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545336" y="4453128"/>
            <a:ext cx="731520" cy="7315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5531" y="4643323"/>
            <a:ext cx="351130" cy="35113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31520" y="5276088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Roster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731520" y="6007608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↔ OCR match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3186684" y="5308092"/>
            <a:ext cx="137160" cy="164592"/>
          </a:xfrm>
          <a:prstGeom prst="rightArrow">
            <a:avLst/>
          </a:prstGeom>
          <a:solidFill>
            <a:srgbClr val="C0392B"/>
          </a:solidFill>
          <a:ln/>
        </p:spPr>
      </p:sp>
      <p:sp>
        <p:nvSpPr>
          <p:cNvPr id="33" name="Shape 26"/>
          <p:cNvSpPr/>
          <p:nvPr/>
        </p:nvSpPr>
        <p:spPr>
          <a:xfrm>
            <a:off x="3328416" y="4224528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420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233672" y="4453128"/>
            <a:ext cx="731520" cy="7315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3867" y="4643323"/>
            <a:ext cx="351130" cy="35113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419856" y="5276088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Decision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(LLM)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3419856" y="6007608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on MI300X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5875020" y="5308092"/>
            <a:ext cx="137160" cy="164592"/>
          </a:xfrm>
          <a:prstGeom prst="rightArrow">
            <a:avLst/>
          </a:prstGeom>
          <a:solidFill>
            <a:srgbClr val="C0392B"/>
          </a:solidFill>
          <a:ln/>
        </p:spPr>
      </p:sp>
      <p:sp>
        <p:nvSpPr>
          <p:cNvPr id="39" name="Shape 31"/>
          <p:cNvSpPr/>
          <p:nvPr/>
        </p:nvSpPr>
        <p:spPr>
          <a:xfrm>
            <a:off x="6016752" y="4224528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420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922008" y="4453128"/>
            <a:ext cx="731520" cy="7315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203" y="4643323"/>
            <a:ext cx="351130" cy="35113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108192" y="5276088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Clip Cut +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</a:t>
            </a:r>
            <a:endParaRPr lang="en-US" sz="1400" dirty="0"/>
          </a:p>
        </p:txBody>
      </p:sp>
      <p:sp>
        <p:nvSpPr>
          <p:cNvPr id="43" name="Text 34"/>
          <p:cNvSpPr/>
          <p:nvPr/>
        </p:nvSpPr>
        <p:spPr>
          <a:xfrm>
            <a:off x="6108192" y="6007608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overlay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8563356" y="5308092"/>
            <a:ext cx="137160" cy="164592"/>
          </a:xfrm>
          <a:prstGeom prst="rightArrow">
            <a:avLst/>
          </a:prstGeom>
          <a:solidFill>
            <a:srgbClr val="C0392B"/>
          </a:solidFill>
          <a:ln/>
        </p:spPr>
      </p:sp>
      <p:sp>
        <p:nvSpPr>
          <p:cNvPr id="45" name="Shape 36"/>
          <p:cNvSpPr/>
          <p:nvPr/>
        </p:nvSpPr>
        <p:spPr>
          <a:xfrm>
            <a:off x="8705088" y="4224528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420">
                <a:alpha val="10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9610344" y="4453128"/>
            <a:ext cx="731520" cy="7315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0539" y="4643323"/>
            <a:ext cx="351130" cy="35113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8796528" y="5276088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Reel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</a:t>
            </a:r>
            <a:endParaRPr lang="en-US" sz="1400" dirty="0"/>
          </a:p>
        </p:txBody>
      </p:sp>
      <p:sp>
        <p:nvSpPr>
          <p:cNvPr id="49" name="Text 39"/>
          <p:cNvSpPr/>
          <p:nvPr/>
        </p:nvSpPr>
        <p:spPr>
          <a:xfrm>
            <a:off x="8796528" y="6007608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+ encode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Hardcoded Players — Ever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rosters are discovered live by cross-referencing commentary audio with on-screen scoreboard OCR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F4F1E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731520" cy="7315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23390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Heard in Commentary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60120" y="2834640"/>
            <a:ext cx="44348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83464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"...Sharma steps out, big swing,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that's a SIX!"  [10.0s]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3000" y="3794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candidate name: "Sharma"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0120" y="4297680"/>
            <a:ext cx="44348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2976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"OUT! Gill is caught at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midwicket!"  [90.0s]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3000" y="5257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candidate name: "Gill"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571500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(faster-whisper, AMD GPU) extracts timestamped name-like tokens from real commentary — no scripted lines.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52160" y="1874520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F4F1E8"/>
          </a:solidFill>
          <a:ln/>
        </p:spPr>
      </p:sp>
      <p:sp>
        <p:nvSpPr>
          <p:cNvPr id="16" name="Shape 13"/>
          <p:cNvSpPr/>
          <p:nvPr/>
        </p:nvSpPr>
        <p:spPr>
          <a:xfrm>
            <a:off x="6172200" y="2148840"/>
            <a:ext cx="731520" cy="7315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395" y="2339035"/>
            <a:ext cx="351130" cy="35113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4088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Seen on Scoreboard (OCR)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172200" y="2834640"/>
            <a:ext cx="44348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6355080" y="2834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[8s]  IND 12/0 (2.0)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Rohit Sharma 8(6)* | Shubman Gill 4(6)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172200" y="3520440"/>
            <a:ext cx="4434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>
            <a:off x="6355080" y="3520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[88s]  IND 60/1 (9.0) | Virat Kohli 35(22)*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172200" y="42062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samples the scoreboard every ~5s, parsing score, wickets, overs, and batter name/runs/balls pairs.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72200" y="5074920"/>
            <a:ext cx="44348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6355080" y="507492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(±12s window, surname-aware matching):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"Sharma" → Rohit Sharma ✓   |   "Gill" → Shubman Gill ✓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AMD MI300X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GPU-accelerated stack — no proprietary cloud LLM dependency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146C4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30552"/>
            <a:ext cx="685800" cy="685800"/>
          </a:xfrm>
          <a:prstGeom prst="ellipse">
            <a:avLst/>
          </a:prstGeom>
          <a:solidFill>
            <a:srgbClr val="E0B3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3088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26080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vLLM on ROCm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Qwen3-30B-A3B served via vLLM's OpenAI-compatible API on AMD MI300X — handles multi-modal event fusion.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79392" y="187452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146C4F">
              <a:alpha val="7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553712" y="2130552"/>
            <a:ext cx="685800" cy="685800"/>
          </a:xfrm>
          <a:prstGeom prst="ellipse">
            <a:avLst/>
          </a:prstGeom>
          <a:solidFill>
            <a:srgbClr val="E0B35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3088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926080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faster-whisper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553712" y="333756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speech-to-text for commentary transcription with word-level timestamps.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18704" y="187452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146C4F">
              <a:alpha val="7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8193024" y="2130552"/>
            <a:ext cx="685800" cy="685800"/>
          </a:xfrm>
          <a:prstGeom prst="ellipse">
            <a:avLst/>
          </a:prstGeom>
          <a:solidFill>
            <a:srgbClr val="E0B35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332" y="23088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93024" y="2926080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EasyOCR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193024" y="333756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OCR engine reads scoreboard overlays — score, wickets, overs, batter names — every ~5s.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43484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146C4F">
              <a:alpha val="7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4690872"/>
            <a:ext cx="685800" cy="685800"/>
          </a:xfrm>
          <a:prstGeom prst="ellipse">
            <a:avLst/>
          </a:prstGeom>
          <a:solidFill>
            <a:srgbClr val="E0B35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" y="486918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486400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ffmpeg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914400" y="589788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extraction, audio isolation, caption burn-in, clip cutting, and reel concatenation.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79392" y="443484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146C4F">
              <a:alpha val="75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4553712" y="4690872"/>
            <a:ext cx="685800" cy="685800"/>
          </a:xfrm>
          <a:prstGeom prst="ellipse">
            <a:avLst/>
          </a:prstGeom>
          <a:solidFill>
            <a:srgbClr val="E0B35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86918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5486400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UI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4553712" y="589788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7-tab interface: Home, Final Reel, Thumbnails, Player View, Agent Insights, Analytics, Exports.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918704" y="443484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146C4F">
              <a:alpha val="75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8193024" y="4690872"/>
            <a:ext cx="685800" cy="685800"/>
          </a:xfrm>
          <a:prstGeom prst="ellipse">
            <a:avLst/>
          </a:prstGeom>
          <a:solidFill>
            <a:srgbClr val="E0B35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332" y="4869180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93024" y="5486400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ETA</a:t>
            </a:r>
            <a:endParaRPr lang="en-US" sz="1650" dirty="0"/>
          </a:p>
        </p:txBody>
      </p:sp>
      <p:sp>
        <p:nvSpPr>
          <p:cNvPr id="33" name="Text 25"/>
          <p:cNvSpPr/>
          <p:nvPr/>
        </p:nvSpPr>
        <p:spPr>
          <a:xfrm>
            <a:off x="8193024" y="589788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Stage-weighted progress bar reports elapsed time + estimated completion as the pipeline runs.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App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tabs guide the user from upload to a downloadable reel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42032" cy="2240280"/>
          </a:xfrm>
          <a:prstGeom prst="roundRect">
            <a:avLst>
              <a:gd name="adj" fmla="val 3265"/>
            </a:avLst>
          </a:prstGeom>
          <a:solidFill>
            <a:srgbClr val="F4F1E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1781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432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3108960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video or paste a direct URL; configure event types, confidence threshold &amp; player filter; live progress + ETA.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28416" y="1783080"/>
            <a:ext cx="2542032" cy="2240280"/>
          </a:xfrm>
          <a:prstGeom prst="roundRect">
            <a:avLst>
              <a:gd name="adj" fmla="val 3265"/>
            </a:avLst>
          </a:prstGeom>
          <a:solidFill>
            <a:srgbClr val="F4F1E8"/>
          </a:solidFill>
          <a:ln/>
        </p:spPr>
      </p:sp>
      <p:sp>
        <p:nvSpPr>
          <p:cNvPr id="10" name="Shape 7"/>
          <p:cNvSpPr/>
          <p:nvPr/>
        </p:nvSpPr>
        <p:spPr>
          <a:xfrm>
            <a:off x="3557016" y="201168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437" y="21781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7016" y="27432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Reel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557016" y="3108960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the stitched highlight reel with burned-in captions; lists every included segment with timestamps.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16752" y="1783080"/>
            <a:ext cx="2542032" cy="2240280"/>
          </a:xfrm>
          <a:prstGeom prst="roundRect">
            <a:avLst>
              <a:gd name="adj" fmla="val 3265"/>
            </a:avLst>
          </a:prstGeom>
          <a:solidFill>
            <a:srgbClr val="F4F1E8"/>
          </a:solidFill>
          <a:ln/>
        </p:spPr>
      </p:sp>
      <p:sp>
        <p:nvSpPr>
          <p:cNvPr id="15" name="Shape 11"/>
          <p:cNvSpPr/>
          <p:nvPr/>
        </p:nvSpPr>
        <p:spPr>
          <a:xfrm>
            <a:off x="6245352" y="201168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3" y="21781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45352" y="27432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Thumbnails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245352" y="3108960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thumbnail per event, captioned and filterable by event type.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705088" y="1783080"/>
            <a:ext cx="2542032" cy="2240280"/>
          </a:xfrm>
          <a:prstGeom prst="roundRect">
            <a:avLst>
              <a:gd name="adj" fmla="val 3265"/>
            </a:avLst>
          </a:prstGeom>
          <a:solidFill>
            <a:srgbClr val="F4F1E8"/>
          </a:solidFill>
          <a:ln/>
        </p:spPr>
      </p:sp>
      <p:sp>
        <p:nvSpPr>
          <p:cNvPr id="20" name="Shape 15"/>
          <p:cNvSpPr/>
          <p:nvPr/>
        </p:nvSpPr>
        <p:spPr>
          <a:xfrm>
            <a:off x="8933688" y="201168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109" y="21781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33688" y="27432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View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933688" y="3108960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highlights by a specific player, with per-player Six/Four counts.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984248" y="4224528"/>
            <a:ext cx="2542032" cy="2240280"/>
          </a:xfrm>
          <a:prstGeom prst="roundRect">
            <a:avLst>
              <a:gd name="adj" fmla="val 3265"/>
            </a:avLst>
          </a:prstGeom>
          <a:solidFill>
            <a:srgbClr val="F4F1E8"/>
          </a:solidFill>
          <a:ln/>
        </p:spPr>
      </p:sp>
      <p:sp>
        <p:nvSpPr>
          <p:cNvPr id="25" name="Shape 19"/>
          <p:cNvSpPr/>
          <p:nvPr/>
        </p:nvSpPr>
        <p:spPr>
          <a:xfrm>
            <a:off x="2212848" y="4453128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9269" y="4619549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12848" y="51846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Insights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2212848" y="5550408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from each pipeline agent (Vision, Audio, OCR, Decision, Packaging) plus execution logs.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672584" y="4224528"/>
            <a:ext cx="2542032" cy="2240280"/>
          </a:xfrm>
          <a:prstGeom prst="roundRect">
            <a:avLst>
              <a:gd name="adj" fmla="val 3265"/>
            </a:avLst>
          </a:prstGeom>
          <a:solidFill>
            <a:srgbClr val="F4F1E8"/>
          </a:solidFill>
          <a:ln/>
        </p:spPr>
      </p:sp>
      <p:sp>
        <p:nvSpPr>
          <p:cNvPr id="30" name="Shape 23"/>
          <p:cNvSpPr/>
          <p:nvPr/>
        </p:nvSpPr>
        <p:spPr>
          <a:xfrm>
            <a:off x="4901184" y="4453128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605" y="4619549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901184" y="51846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4901184" y="5550408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Event-type distribution and confidence charts across the detected highlights.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360920" y="4224528"/>
            <a:ext cx="2542032" cy="2240280"/>
          </a:xfrm>
          <a:prstGeom prst="roundRect">
            <a:avLst>
              <a:gd name="adj" fmla="val 3265"/>
            </a:avLst>
          </a:prstGeom>
          <a:solidFill>
            <a:srgbClr val="F4F1E8"/>
          </a:solidFill>
          <a:ln/>
        </p:spPr>
      </p:sp>
      <p:sp>
        <p:nvSpPr>
          <p:cNvPr id="35" name="Shape 27"/>
          <p:cNvSpPr/>
          <p:nvPr/>
        </p:nvSpPr>
        <p:spPr>
          <a:xfrm>
            <a:off x="7589520" y="4453128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5941" y="4619549"/>
            <a:ext cx="307238" cy="30723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589520" y="518464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Exports</a:t>
            </a:r>
            <a:endParaRPr lang="en-US" sz="1550" dirty="0"/>
          </a:p>
        </p:txBody>
      </p:sp>
      <p:sp>
        <p:nvSpPr>
          <p:cNvPr id="38" name="Text 29"/>
          <p:cNvSpPr/>
          <p:nvPr/>
        </p:nvSpPr>
        <p:spPr>
          <a:xfrm>
            <a:off x="7589520" y="5550408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segment metadata, logs, and analytics as CSV; view confirmed vs. scoreboard-only player roster.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8229600" cy="8229600"/>
          </a:xfrm>
          <a:prstGeom prst="ellipse">
            <a:avLst/>
          </a:prstGeom>
          <a:solidFill>
            <a:srgbClr val="146C4F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What's Next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match upload to a shareable highlight reel — in minutes, not hours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46C4F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B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057400" y="20574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signal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fused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192024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46C4F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205740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B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623560" y="20574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agents with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&amp; ETA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0" y="192024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46C4F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0" y="2057400"/>
            <a:ext cx="1188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B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9189720" y="20574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player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or fallback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2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645152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454456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Live-stream ingestion for real-time highlight generation during a match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148072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43000" y="504748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Bowler/fielder roster cross-referencing alongside batters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5099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555040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to social platforms with auto-generated captions</a:t>
            </a:r>
            <a:endParaRPr lang="en-US" sz="14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15391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605332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commentary support via multilingual Whisper models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7772400" y="3977640"/>
            <a:ext cx="37947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">
            <a:off x="8001000" y="416052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092440" y="4343400"/>
            <a:ext cx="3291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i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"Every six, every wicket,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i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milestone — captured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i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it happens."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FlashBoundary — Real-time Cricket Highlight Generator</dc:title>
  <dc:subject>PptxGenJS Presentation</dc:subject>
  <dc:creator>AUM GPU Hackathon Team</dc:creator>
  <cp:lastModifiedBy>AUM GPU Hackathon Team</cp:lastModifiedBy>
  <cp:revision>1</cp:revision>
  <dcterms:created xsi:type="dcterms:W3CDTF">2026-06-14T17:14:41Z</dcterms:created>
  <dcterms:modified xsi:type="dcterms:W3CDTF">2026-06-14T17:14:41Z</dcterms:modified>
</cp:coreProperties>
</file>